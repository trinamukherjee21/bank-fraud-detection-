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34440"/>
            <a:ext cx="9144000" cy="1965960"/>
          </a:xfrm>
          <a:prstGeom prst="rect">
            <a:avLst/>
          </a:prstGeom>
          <a:solidFill>
            <a:srgbClr val="1B2A6B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34440"/>
            <a:ext cx="109728" cy="196596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25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SecureGuard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Bank Fraud Detection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 ·  Enterprise Security  ·  Production-Ready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3429000"/>
            <a:ext cx="9144000" cy="1691640"/>
          </a:xfrm>
          <a:prstGeom prst="rect">
            <a:avLst/>
          </a:prstGeom>
          <a:solidFill>
            <a:srgbClr val="131C4A"/>
          </a:solidFill>
          <a:ln w="12700">
            <a:solidFill>
              <a:srgbClr val="131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Kumar  ·  Trina Mukherjee  ·  Vibha Sabareesan  ·  Tanisha Prajesh Doshi  ·  Rakshith Gowda 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 ·  Jain University, Bangalore, India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Digital Fraud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urgency, and growing complexity of financial fraud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468880" cy="10972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$485B+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24688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fraud losses (2023)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Nilson Report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468880" cy="1097280"/>
          </a:xfrm>
          <a:prstGeom prst="rect">
            <a:avLst/>
          </a:prstGeom>
          <a:solidFill>
            <a:srgbClr val="1A5299"/>
          </a:solidFill>
          <a:ln w="12700">
            <a:solidFill>
              <a:srgbClr val="1A52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2161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400%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801368"/>
            <a:ext cx="24688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digital 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2468880" cy="10972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161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~0.1%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801368"/>
            <a:ext cx="24688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volume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(tiny rate — massive impact)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Digital Fraud Is Growing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banking, mobile wallets, UPI proliferation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irreversible transactions — little time to 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use automation, credential stuffing &amp; social engineering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Consequences for Institutions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losses: chargebacks &amp; customer compensation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 erodes customer trust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penalties for inadequate fraud controls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377440"/>
            <a:ext cx="0" cy="196596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Machine Learning over Rule-Based Systems?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of ML for fraud detection at scale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Rule-Based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ML (SecureGuard)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Static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Dynamic retraining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Automated from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Poor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class weighting + 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Lower with threshold opt.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~85ms per 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474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474720"/>
            <a:ext cx="64008" cy="137160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Scoring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3776" y="3803904"/>
            <a:ext cx="24505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fraud probability (0–1)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risk tiering: auto-block vs.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— nuanced, not binary.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3474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3474720"/>
            <a:ext cx="64008" cy="137160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8416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Richness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28416" y="3803904"/>
            <a:ext cx="24505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15 engineered 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— amount, time,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profile, behavior.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474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47472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63056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63056" y="3803904"/>
            <a:ext cx="24505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100+ transactions/minute.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~85ms latency on commodity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no special infra.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SecureGuard — 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end-to-end production fraud detection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46304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16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472184"/>
            <a:ext cx="24505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trained on 15 engineered features with threshold-optimized classification (τ ≈ 0.75)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64008" cy="146304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16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74136" y="1472184"/>
            <a:ext cx="24505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Flask-powered endpoints for single, batch, and health-check predictions in structured JSON format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216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54496" y="1472184"/>
            <a:ext cx="24505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auth, JWT sessions, Bcrypt hashing, rate limiting, input sanitization, HTTPS enforcement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9077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3163824"/>
            <a:ext cx="24505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dashboard: fraud trends, risk distribution, hourly activity, and live model performance metrics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3464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9077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74136" y="3163824"/>
            <a:ext cx="24505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(SQLite/MySQL) for transaction logs, prediction results, model artifacts, and audit trail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83464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9077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3163824"/>
            <a:ext cx="24505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req/min, ~85ms latency, horizontal scaling, modular for cloud or on-premise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System Architecture — 7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loosely coupled for independent scaling and maintenance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61288"/>
            <a:ext cx="365760" cy="36576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8001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52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Ingestion &amp; Input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0" y="115214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APIs, payment gateways, secure endpoints. Input validation rejects malformed or malicious data.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28216"/>
            <a:ext cx="365760" cy="36576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664208"/>
            <a:ext cx="8001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19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&amp; Feature Eng.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171907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normalization, categorical encoding, derived transforms. Consistent with training pipeline.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95144"/>
            <a:ext cx="365760" cy="36576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2231136"/>
            <a:ext cx="8001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Inference (XGBoost)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fraud classifier. Outputs continuous fraud probability; predefined threshold produces binary FRAUD/LEGIT.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62072"/>
            <a:ext cx="365760" cy="36576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2798064"/>
            <a:ext cx="8001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852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Processing (Flask API)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285292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control: routes requests, manages business logic, integrates ML model, returns JSON responses.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365760" cy="36576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364992"/>
            <a:ext cx="8001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419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Authentication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41985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validation, JWT auth, Bcrypt hashing, RBAC, rate limiting, input sanitization, HTTPS.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995928"/>
            <a:ext cx="365760" cy="36576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3931920"/>
            <a:ext cx="8001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986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Storage &amp; Logging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98678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of transactions, predictions, risk scores, audit logs. SQLite (dev) / MySQL (prod).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562856"/>
            <a:ext cx="365760" cy="36576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562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" y="4498848"/>
            <a:ext cx="8001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553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&amp; Monitoring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83280" y="455371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HTML5/Bootstrap/Chart.js dashboard. Fraud alerts, risk distribution, trends, async live updates.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 — 15 Engineered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transaction data into discriminative ML signals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179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499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Median/mode imputation or record removal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38404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762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157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fix inconsistencies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 categorical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3840480" cy="566928"/>
          </a:xfrm>
          <a:prstGeom prst="rect">
            <a:avLst/>
          </a:prstGeom>
          <a:solidFill>
            <a:srgbClr val="EEF2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930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3685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/ standard scaling on numerics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513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133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4343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transforms in training &amp; production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Engineered Features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4206240" cy="352044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transaction_amount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fraud signal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amount_squared / sqrt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Amplify/compress outliers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is_small_transaction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Card-testing fraud flag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amount_ratio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 from customer avg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hour_of_day / is_weekend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fraud patterns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category_risk_score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weight by 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category signal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customer_profile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segment anomaly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Model &amp; Class Imbalance Handling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core + strategies for detecting rare fraud events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— Why It Works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64008" cy="100584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361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 Boosting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792224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residual errors of the previous. Final score = weighted sum of all trees → probability via sigmoid.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60320"/>
            <a:ext cx="64008" cy="100584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63347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Regularization (L1 + L2)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" y="2889504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on noisy training data; max_depth &amp; min_child_weight control tree complexity.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64008" cy="100584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73075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Subsampling &amp; Colsample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3986784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Row/column sampling per tree introduces randomness, reducing variance without extra data.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Strategies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444752"/>
            <a:ext cx="402336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90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~0.5–1% fraud rate → naive model gets 99% accuracy detecting ZERO fraud. Recall = 0%.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148840"/>
            <a:ext cx="64008" cy="91440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22219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scale_pos_weight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2896" y="2478024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= N_negatives / N_positives in XGBoost. Fraud cases weighted N× more during gradient updates.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154680"/>
            <a:ext cx="64008" cy="91440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22783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Tuning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2896" y="3483864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τ ∈ {0.05…0.95} on validation set. Maximize F1 → optimal τ* ≈ 0.75.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41605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4160520"/>
            <a:ext cx="64008" cy="91440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423367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Choice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4489704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Recall, F1, ROC-AUC — not raw Accuracy. ROC-AUC = 98.97% achieved.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Prediction Pipeline &amp; REST 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JSON input to structured fraud decision in ~85ms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024128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/api/predict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44168" y="1600200"/>
            <a:ext cx="3657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0744" y="1143000"/>
            <a:ext cx="1024128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0744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0744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80744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04872" y="1600200"/>
            <a:ext cx="3657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1143000"/>
            <a:ext cx="1024128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41448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41448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scalers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65576" y="1600200"/>
            <a:ext cx="3657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2152" y="1143000"/>
            <a:ext cx="1024128" cy="9144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02152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02152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26280" y="1600200"/>
            <a:ext cx="3657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1143000"/>
            <a:ext cx="10241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62856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62856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86984" y="1600200"/>
            <a:ext cx="3657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1143000"/>
            <a:ext cx="10241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0.75?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FRAUD/LEGIT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47688" y="1600200"/>
            <a:ext cx="3657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84264" y="1143000"/>
            <a:ext cx="1024128" cy="91440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84264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84264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write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708392" y="1600200"/>
            <a:ext cx="3657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44968" y="1143000"/>
            <a:ext cx="1024128" cy="91440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44968" y="11795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⑧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44968" y="145389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44968" y="16824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{score, risk}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" y="2240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API Endpoints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42032"/>
          <a:ext cx="4754880" cy="2240280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22860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/api/predict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transaction real-time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/api/batch/predict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processing; returns array of results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status, model loaded,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authentication; returns JWT token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 43"/>
          <p:cNvSpPr/>
          <p:nvPr/>
        </p:nvSpPr>
        <p:spPr>
          <a:xfrm>
            <a:off x="5394960" y="2240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Response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394960" y="2542032"/>
            <a:ext cx="3474720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532120" y="2633472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"prediction":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"FRAUD",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"fraud_probability": </a:t>
            </a:r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0.923,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"risk_level":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"HIGH",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"processing_time_ms":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Defense-in-depth: every request passes through multiple security gates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1554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21615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 + JWT Auth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472184"/>
            <a:ext cx="3959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API key per client required in Authorization header. After login, signed JWT with expiry — stateless, cryptographically validated on each endpoint.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21615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 + RBAC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37176" y="1472184"/>
            <a:ext cx="3959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adaptive Bcrypt. Three roles: Admin (full), Analyst (read), API Client (predict only). Enforced via Flask decorators.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2608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99923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3255264"/>
            <a:ext cx="3959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req/min, 1,000 req/hour, 10,000 req/day per API key. IP-level throttling for distributed abuse. HTTP 429 with Retry-After on rejection.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64008" cy="155448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999232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 &amp; Audit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37176" y="3255264"/>
            <a:ext cx="3959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checks, range validation, 1MB payload cap, parameterized SQL (no injection). Every request logged with user ID, IP, latency — retained 90 days.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HTTPS Enforcement: All traffic over TLS 1.2+  ·  HSTS header prevents downgrade attacks  ·  HttpOnly &amp; SameSite cookies  ·  Idle session timeout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 &amp; Metric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held-out test set using imbalanced-classification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72768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98.97%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1143000"/>
            <a:ext cx="1572768" cy="960120"/>
          </a:xfrm>
          <a:prstGeom prst="rect">
            <a:avLst/>
          </a:prstGeom>
          <a:solidFill>
            <a:srgbClr val="1A5299"/>
          </a:solidFill>
          <a:ln w="12700">
            <a:solidFill>
              <a:srgbClr val="1A52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216152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98.61%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84248" y="1719072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48456" y="1143000"/>
            <a:ext cx="1572768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216152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82.54%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48456" y="1719072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12664" y="1143000"/>
            <a:ext cx="1572768" cy="9601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1216152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58.92%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12664" y="1719072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76872" y="1143000"/>
            <a:ext cx="1572768" cy="9601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1216152"/>
            <a:ext cx="15727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45.81%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76872" y="1719072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240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56032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98.97% — model almost always ranks fraud above legitimate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82.54% — catches ~5 of every 6 real fraud attempts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45.81% — ~54% of alerts are false positives requiring analyst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240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 Prior Work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542032"/>
          <a:ext cx="4114800" cy="210312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Bhattacharyya et al. (2011)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Jurgovsky et al. (2018)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AE-XGB-SMOTE (2024)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SecureGuard (Ours)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20040" y="3977640"/>
            <a:ext cx="411480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023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Opportunities: Raise threshold to improve Precision (at cost of Recall) · Ensemble stacking to reduce false negatives · SHAP explainability for regulatory compliance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Monitoring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interface for security analysts and risk managers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216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Level Indicator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472184"/>
            <a:ext cx="24505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badge: LOW/MED/HIGH/CRITICAL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rolling 1-hour fraud rate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216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28416" y="1472184"/>
            <a:ext cx="24505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transactions flagged as fraud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5-minute rolling window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43000"/>
            <a:ext cx="64008" cy="132588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2161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Time Monitor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08776" y="1472184"/>
            <a:ext cx="24505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&amp; P95 latency per prediction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if avg exceeds 200ms SLA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9748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277063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Trend (24hr)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" y="3026664"/>
            <a:ext cx="24505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fraud vs. legit volume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hour — reveals attack patterns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697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697480"/>
            <a:ext cx="64008" cy="1325880"/>
          </a:xfrm>
          <a:prstGeom prst="rect">
            <a:avLst/>
          </a:prstGeom>
          <a:solidFill>
            <a:srgbClr val="22A884"/>
          </a:solidFill>
          <a:ln w="12700">
            <a:solidFill>
              <a:srgbClr val="22A8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77063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Distribution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8416" y="3026664"/>
            <a:ext cx="24505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% transactions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(Low/Med/High/Critical)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2697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697480"/>
            <a:ext cx="64008" cy="1325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277063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08776" y="3026664"/>
            <a:ext cx="24505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Accuracy, Precision, Recall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ROC-AUC on rolling predictions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HTML5  ·  Bootstrap  ·  Chart.js  ·  Async API polling  ·  SQLite / MySQL backend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Conclusion, Limitations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SecureGuard — ML-Based Bank Fraud Detection  ·  Jain University,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3749040"/>
          </a:xfrm>
          <a:prstGeom prst="rect">
            <a:avLst/>
          </a:prstGeom>
          <a:solidFill>
            <a:srgbClr val="152B6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Contributions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15 features — 98.97% ROC-AUC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API: single &amp; batch prediction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security: JWT, Bcrypt, RBAC, HTTPS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6+ analytics widgets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req/min, ~85ms latency, cloud-ready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optimized at τ ≈ 0.75 (F1 max)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749040"/>
          </a:xfrm>
          <a:prstGeom prst="rect">
            <a:avLst/>
          </a:prstGeom>
          <a:solidFill>
            <a:srgbClr val="3B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E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45.81% — high false positive workload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E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Explainable AI (XAI) for regulatory audits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E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dataset — vulnerable to distribution drift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E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not suitable for high-throughput production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E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 modeling for collusive fraud rings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3749040"/>
          </a:xfrm>
          <a:prstGeom prst="rect">
            <a:avLst/>
          </a:prstGeom>
          <a:solidFill>
            <a:srgbClr val="0C3B2E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explainability per transaction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retraining on performance drift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for fraud rings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threshold by risk preference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Spark streaming for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institutions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SecureGuard — ML-Based Bank Fraud Detection</dc:title>
  <dc:subject>PptxGenJS Presentation</dc:subject>
  <dc:creator>PptxGenJS</dc:creator>
  <cp:lastModifiedBy>PptxGenJS</cp:lastModifiedBy>
  <cp:revision>1</cp:revision>
  <dcterms:created xsi:type="dcterms:W3CDTF">2026-05-07T08:28:32Z</dcterms:created>
  <dcterms:modified xsi:type="dcterms:W3CDTF">2026-05-07T08:28:32Z</dcterms:modified>
</cp:coreProperties>
</file>